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Hubot Sans"/>
      <p:regular r:id="rId17"/>
    </p:embeddedFont>
    <p:embeddedFont>
      <p:font typeface="Hubot Sans"/>
      <p:regular r:id="rId18"/>
    </p:embeddedFont>
    <p:embeddedFont>
      <p:font typeface="Roboto Condensed"/>
      <p:regular r:id="rId19"/>
    </p:embeddedFont>
    <p:embeddedFont>
      <p:font typeface="Roboto Condensed"/>
      <p:regular r:id="rId20"/>
    </p:embeddedFont>
    <p:embeddedFont>
      <p:font typeface="Roboto Condensed"/>
      <p:regular r:id="rId21"/>
    </p:embeddedFont>
    <p:embeddedFont>
      <p:font typeface="Roboto Condensed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8D9D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07918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SAMPLE ROUTING MODULE (SRM)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587472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MODULAR EMBEDDED COMMUNICATION SYSTEM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793790" y="506158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Daniele Perez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Embedded C/C++ Course Project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Gamma Intelligence OÜ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7400" y="447913"/>
            <a:ext cx="381000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PROJECT GOAL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057400" y="1128951"/>
            <a:ext cx="10515600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Sample Routing Module (SRM) simulates a small industrial or medical machine using a master-slave architecture. The Raspberry Pi serves as the master controller, while the STM32 microcontroller acts as the slave device. Communication occurs via RS485 protocol, demonstrating a scalable embedded architecture suitable for industrial automation applications.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855589"/>
            <a:ext cx="10515600" cy="59260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06213" y="2369074"/>
            <a:ext cx="1947601" cy="29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MASTER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306213" y="2743313"/>
            <a:ext cx="1947601" cy="38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Raspberry Pi invia comandi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0386686" y="3798696"/>
            <a:ext cx="1937242" cy="29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BUS RS485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86686" y="4172936"/>
            <a:ext cx="1937242" cy="38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Collegamento seriale differenziale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378892" y="6679469"/>
            <a:ext cx="1875084" cy="291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SLAVE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378892" y="7053709"/>
            <a:ext cx="1875084" cy="194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STM32 esegue istruzioni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650081"/>
            <a:ext cx="7366278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HARDWARE COMPONENTS</a:t>
            </a:r>
            <a:endParaRPr lang="en-US" sz="4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758" y="1689021"/>
            <a:ext cx="522684" cy="5226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758" y="2452568"/>
            <a:ext cx="3586758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RASPBERRY PI 4 MODEL B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731758" y="2894767"/>
            <a:ext cx="6462951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Master controller with Linux OS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5572" y="1689021"/>
            <a:ext cx="522684" cy="5226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5572" y="2452568"/>
            <a:ext cx="3298746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STM32 NUCLEO-F207ZG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7435572" y="2894767"/>
            <a:ext cx="6463070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ARM Cortex-M3 slave processor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758" y="3601641"/>
            <a:ext cx="522684" cy="5226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758" y="4365188"/>
            <a:ext cx="4282916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RS485 TRANSCEIVER MODULE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731758" y="4807387"/>
            <a:ext cx="6462951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Differential serial communication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5572" y="3601641"/>
            <a:ext cx="522684" cy="5226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35572" y="4365188"/>
            <a:ext cx="3068003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LCD1602 I2C DISPLAY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7435572" y="4807387"/>
            <a:ext cx="6463070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16×2 character operator feedback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758" y="5514261"/>
            <a:ext cx="522684" cy="52268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1758" y="6277808"/>
            <a:ext cx="3750826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ULN2003 STEPPER DRIVER</a:t>
            </a:r>
            <a:endParaRPr lang="en-US" sz="2050" dirty="0"/>
          </a:p>
        </p:txBody>
      </p:sp>
      <p:sp>
        <p:nvSpPr>
          <p:cNvPr id="17" name="Text 10"/>
          <p:cNvSpPr/>
          <p:nvPr/>
        </p:nvSpPr>
        <p:spPr>
          <a:xfrm>
            <a:off x="731758" y="6720007"/>
            <a:ext cx="6462951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Motor control IC module</a:t>
            </a:r>
            <a:endParaRPr lang="en-US" sz="16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35572" y="5514261"/>
            <a:ext cx="522684" cy="52268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35572" y="6277808"/>
            <a:ext cx="3658910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28BYJ-48 STEPPER MOTOR</a:t>
            </a:r>
            <a:endParaRPr lang="en-US" sz="2050" dirty="0"/>
          </a:p>
        </p:txBody>
      </p:sp>
      <p:sp>
        <p:nvSpPr>
          <p:cNvPr id="20" name="Text 12"/>
          <p:cNvSpPr/>
          <p:nvPr/>
        </p:nvSpPr>
        <p:spPr>
          <a:xfrm>
            <a:off x="7435572" y="6720007"/>
            <a:ext cx="6463070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5V unipolar stepper motor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731758" y="7258169"/>
            <a:ext cx="1316688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Additional components include USB-to-RS485 converter, jumper wires, and breadboard for prototyping.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8D9D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196459"/>
            <a:ext cx="73486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WIRING CONNECTIONS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472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STM32 PINOUT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053358"/>
            <a:ext cx="3501509" cy="390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PB6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→ RS485 TX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PB7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→ RS485 RX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PB8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→ LCD SCL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PB9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→ LCD SDA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PD4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→ ULN2003 IN1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PD5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→ ULN2003 IN2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PD6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→ ULN2003 IN3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PD7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→ ULN2003 IN4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PA5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→ Onboard LED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2472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POWER &amp; GROUND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053358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LCD1602 and ULN2003 connected to 5V power supply and common ground. RS485 module requires separate 5V connection for transceiver operation.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624721"/>
            <a:ext cx="5227558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WHY RS485?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1758" y="1663660"/>
            <a:ext cx="6487001" cy="2323028"/>
          </a:xfrm>
          <a:prstGeom prst="roundRect">
            <a:avLst>
              <a:gd name="adj" fmla="val 1350"/>
            </a:avLst>
          </a:prstGeom>
          <a:solidFill>
            <a:srgbClr val="D8D9D2"/>
          </a:solidFill>
          <a:ln/>
        </p:spPr>
      </p:sp>
      <p:sp>
        <p:nvSpPr>
          <p:cNvPr id="4" name="Shape 2"/>
          <p:cNvSpPr/>
          <p:nvPr/>
        </p:nvSpPr>
        <p:spPr>
          <a:xfrm>
            <a:off x="940832" y="1872734"/>
            <a:ext cx="627221" cy="627221"/>
          </a:xfrm>
          <a:prstGeom prst="roundRect">
            <a:avLst>
              <a:gd name="adj" fmla="val 14577136"/>
            </a:avLst>
          </a:prstGeom>
          <a:solidFill>
            <a:srgbClr val="C8CAC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353" y="2045137"/>
            <a:ext cx="282178" cy="2821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0832" y="2692718"/>
            <a:ext cx="4125873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SUPERIOR NOISE IMMUNITY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40832" y="3134916"/>
            <a:ext cx="6068854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Differential signaling rejects common-mode noise in industrial environments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11522" y="1663660"/>
            <a:ext cx="6487120" cy="2323028"/>
          </a:xfrm>
          <a:prstGeom prst="roundRect">
            <a:avLst>
              <a:gd name="adj" fmla="val 1350"/>
            </a:avLst>
          </a:prstGeom>
          <a:solidFill>
            <a:srgbClr val="D8D9D2"/>
          </a:solidFill>
          <a:ln/>
        </p:spPr>
      </p:sp>
      <p:sp>
        <p:nvSpPr>
          <p:cNvPr id="9" name="Shape 6"/>
          <p:cNvSpPr/>
          <p:nvPr/>
        </p:nvSpPr>
        <p:spPr>
          <a:xfrm>
            <a:off x="7620595" y="1872734"/>
            <a:ext cx="627221" cy="627221"/>
          </a:xfrm>
          <a:prstGeom prst="roundRect">
            <a:avLst>
              <a:gd name="adj" fmla="val 14577136"/>
            </a:avLst>
          </a:prstGeom>
          <a:solidFill>
            <a:srgbClr val="C8CAC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3117" y="2045137"/>
            <a:ext cx="282178" cy="28217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0595" y="2692718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LONG CABLE RUNS</a:t>
            </a:r>
            <a:endParaRPr lang="en-US" sz="2050" dirty="0"/>
          </a:p>
        </p:txBody>
      </p:sp>
      <p:sp>
        <p:nvSpPr>
          <p:cNvPr id="12" name="Text 8"/>
          <p:cNvSpPr/>
          <p:nvPr/>
        </p:nvSpPr>
        <p:spPr>
          <a:xfrm>
            <a:off x="7620595" y="3134916"/>
            <a:ext cx="606897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Supports distances up to 1200 meters between devices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31758" y="4179451"/>
            <a:ext cx="6487001" cy="2001679"/>
          </a:xfrm>
          <a:prstGeom prst="roundRect">
            <a:avLst>
              <a:gd name="adj" fmla="val 1567"/>
            </a:avLst>
          </a:prstGeom>
          <a:solidFill>
            <a:srgbClr val="D8D9D2"/>
          </a:solidFill>
          <a:ln/>
        </p:spPr>
      </p:sp>
      <p:sp>
        <p:nvSpPr>
          <p:cNvPr id="14" name="Shape 10"/>
          <p:cNvSpPr/>
          <p:nvPr/>
        </p:nvSpPr>
        <p:spPr>
          <a:xfrm>
            <a:off x="940832" y="4388525"/>
            <a:ext cx="627221" cy="627221"/>
          </a:xfrm>
          <a:prstGeom prst="roundRect">
            <a:avLst>
              <a:gd name="adj" fmla="val 14577136"/>
            </a:avLst>
          </a:prstGeom>
          <a:solidFill>
            <a:srgbClr val="C8CAC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3353" y="4560927"/>
            <a:ext cx="282178" cy="28217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40832" y="5208508"/>
            <a:ext cx="273819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MULTI-DEVICE BUS</a:t>
            </a:r>
            <a:endParaRPr lang="en-US" sz="2050" dirty="0"/>
          </a:p>
        </p:txBody>
      </p:sp>
      <p:sp>
        <p:nvSpPr>
          <p:cNvPr id="17" name="Text 12"/>
          <p:cNvSpPr/>
          <p:nvPr/>
        </p:nvSpPr>
        <p:spPr>
          <a:xfrm>
            <a:off x="940832" y="5650706"/>
            <a:ext cx="606885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Daisy-chain multiple slaves on single communication line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411522" y="4179451"/>
            <a:ext cx="6487120" cy="2001679"/>
          </a:xfrm>
          <a:prstGeom prst="roundRect">
            <a:avLst>
              <a:gd name="adj" fmla="val 1567"/>
            </a:avLst>
          </a:prstGeom>
          <a:solidFill>
            <a:srgbClr val="D8D9D2"/>
          </a:solidFill>
          <a:ln/>
        </p:spPr>
      </p:sp>
      <p:sp>
        <p:nvSpPr>
          <p:cNvPr id="19" name="Shape 14"/>
          <p:cNvSpPr/>
          <p:nvPr/>
        </p:nvSpPr>
        <p:spPr>
          <a:xfrm>
            <a:off x="7620595" y="4388525"/>
            <a:ext cx="627221" cy="627221"/>
          </a:xfrm>
          <a:prstGeom prst="roundRect">
            <a:avLst>
              <a:gd name="adj" fmla="val 14577136"/>
            </a:avLst>
          </a:prstGeom>
          <a:solidFill>
            <a:srgbClr val="C8CAC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93117" y="4560927"/>
            <a:ext cx="282178" cy="28217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20595" y="5208508"/>
            <a:ext cx="3437811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INDUSTRIAL STANDARD</a:t>
            </a:r>
            <a:endParaRPr lang="en-US" sz="2050" dirty="0"/>
          </a:p>
        </p:txBody>
      </p:sp>
      <p:sp>
        <p:nvSpPr>
          <p:cNvPr id="22" name="Text 16"/>
          <p:cNvSpPr/>
          <p:nvPr/>
        </p:nvSpPr>
        <p:spPr>
          <a:xfrm>
            <a:off x="7620595" y="5650706"/>
            <a:ext cx="606897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Common in medical equipment and factory automation systems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1758" y="6590705"/>
            <a:ext cx="3908703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UART DIRECT CONNECTION</a:t>
            </a:r>
            <a:endParaRPr lang="en-US" sz="2050" dirty="0"/>
          </a:p>
        </p:txBody>
      </p:sp>
      <p:sp>
        <p:nvSpPr>
          <p:cNvPr id="24" name="Text 18"/>
          <p:cNvSpPr/>
          <p:nvPr/>
        </p:nvSpPr>
        <p:spPr>
          <a:xfrm>
            <a:off x="731758" y="7110055"/>
            <a:ext cx="6328410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Short distance only, single device, susceptible to noise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577852" y="6590705"/>
            <a:ext cx="3720227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RS485 DIFFERENTIAL BUS</a:t>
            </a:r>
            <a:endParaRPr lang="en-US" sz="2050" dirty="0"/>
          </a:p>
        </p:txBody>
      </p:sp>
      <p:sp>
        <p:nvSpPr>
          <p:cNvPr id="26" name="Text 20"/>
          <p:cNvSpPr/>
          <p:nvPr/>
        </p:nvSpPr>
        <p:spPr>
          <a:xfrm>
            <a:off x="7577852" y="7110055"/>
            <a:ext cx="6328410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Long distance, multi-device, noise-resistant differential pairs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402074"/>
            <a:ext cx="35252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SRM PROTOCOL FRAME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02449" y="869752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Custom binary protocol designed for reliable industrial communication with error detection and addressing capabilities.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449" y="1069538"/>
            <a:ext cx="566976" cy="6804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26098" y="118288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SOF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026098" y="1393984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Start of Frame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449" y="1749981"/>
            <a:ext cx="566976" cy="6804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26098" y="18633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VER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026098" y="2074426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Protocol Version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449" y="2430423"/>
            <a:ext cx="566976" cy="6804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026098" y="254377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FLAGS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026098" y="2754868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Control Flags</a:t>
            </a:r>
            <a:endParaRPr lang="en-US" sz="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49" y="3110865"/>
            <a:ext cx="566976" cy="6804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026098" y="322421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SRC/DST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026098" y="3435310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Addressing</a:t>
            </a:r>
            <a:endParaRPr lang="en-US" sz="8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449" y="3791307"/>
            <a:ext cx="566976" cy="68044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026098" y="390465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CMD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026098" y="4115753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Command Type</a:t>
            </a:r>
            <a:endParaRPr lang="en-US" sz="8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2449" y="4471749"/>
            <a:ext cx="566976" cy="68044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026098" y="458509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SEQ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4026098" y="4796195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Sequence Number</a:t>
            </a:r>
            <a:endParaRPr lang="en-US" sz="8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2449" y="5152192"/>
            <a:ext cx="566976" cy="68044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026098" y="526553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LEN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4026098" y="5476637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Payload Size</a:t>
            </a:r>
            <a:endParaRPr lang="en-US" sz="8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2449" y="5832634"/>
            <a:ext cx="566976" cy="68044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026098" y="594598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PAYLOAD</a:t>
            </a:r>
            <a:endParaRPr lang="en-US" sz="1100" dirty="0"/>
          </a:p>
        </p:txBody>
      </p:sp>
      <p:sp>
        <p:nvSpPr>
          <p:cNvPr id="27" name="Text 17"/>
          <p:cNvSpPr/>
          <p:nvPr/>
        </p:nvSpPr>
        <p:spPr>
          <a:xfrm>
            <a:off x="4026098" y="6157079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Data Field</a:t>
            </a:r>
            <a:endParaRPr lang="en-US" sz="8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2449" y="6513076"/>
            <a:ext cx="566976" cy="68044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4026098" y="662642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CRC16</a:t>
            </a:r>
            <a:endParaRPr lang="en-US" sz="1100" dirty="0"/>
          </a:p>
        </p:txBody>
      </p:sp>
      <p:sp>
        <p:nvSpPr>
          <p:cNvPr id="30" name="Text 19"/>
          <p:cNvSpPr/>
          <p:nvPr/>
        </p:nvSpPr>
        <p:spPr>
          <a:xfrm>
            <a:off x="4026098" y="6837521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Validation Check</a:t>
            </a:r>
            <a:endParaRPr lang="en-US" sz="850" dirty="0"/>
          </a:p>
        </p:txBody>
      </p:sp>
      <p:sp>
        <p:nvSpPr>
          <p:cNvPr id="31" name="Shape 20"/>
          <p:cNvSpPr/>
          <p:nvPr/>
        </p:nvSpPr>
        <p:spPr>
          <a:xfrm>
            <a:off x="3402449" y="7257217"/>
            <a:ext cx="7825502" cy="570190"/>
          </a:xfrm>
          <a:prstGeom prst="roundRect">
            <a:avLst>
              <a:gd name="adj" fmla="val 2984"/>
            </a:avLst>
          </a:prstGeom>
          <a:solidFill>
            <a:srgbClr val="B6D6FC"/>
          </a:solidFill>
          <a:ln/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15797" y="7355324"/>
            <a:ext cx="177165" cy="141684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3806309" y="734222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EXAMPLE FRAME</a:t>
            </a:r>
            <a:endParaRPr lang="en-US" sz="1100" dirty="0"/>
          </a:p>
        </p:txBody>
      </p:sp>
      <p:sp>
        <p:nvSpPr>
          <p:cNvPr id="34" name="Text 22"/>
          <p:cNvSpPr/>
          <p:nvPr/>
        </p:nvSpPr>
        <p:spPr>
          <a:xfrm>
            <a:off x="3806309" y="7576066"/>
            <a:ext cx="7308294" cy="143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AA 01 00 10 01 30 05 04 54 45 53 54 3F 92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- PING command from address 0x10 to 0x01 with "TEST" payload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35618" y="413028"/>
            <a:ext cx="3101102" cy="387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COMMAND FLOW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8596" y="936308"/>
            <a:ext cx="6613088" cy="45572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74293" y="3771982"/>
            <a:ext cx="1807139" cy="48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PI: SEND COMMAND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6068" y="2611042"/>
            <a:ext cx="427947" cy="4279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4233" y="1617537"/>
            <a:ext cx="1865848" cy="48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STM32: RECEIVE + CRC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8782" y="2871956"/>
            <a:ext cx="427947" cy="4279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66780" y="4332459"/>
            <a:ext cx="1807139" cy="48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DISPATCHER → EXECUTE</a:t>
            </a:r>
            <a:endParaRPr lang="en-US" sz="15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51629" y="3132870"/>
            <a:ext cx="427947" cy="42794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570912" y="2121311"/>
            <a:ext cx="1807139" cy="48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STM32: ANSWER → PI VERIFY</a:t>
            </a:r>
            <a:endParaRPr lang="en-US" sz="15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91402" y="3413042"/>
            <a:ext cx="427947" cy="42794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035618" y="5569744"/>
            <a:ext cx="248007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01</a:t>
            </a:r>
            <a:endParaRPr lang="en-US" sz="950" dirty="0"/>
          </a:p>
        </p:txBody>
      </p:sp>
      <p:sp>
        <p:nvSpPr>
          <p:cNvPr id="13" name="Shape 6"/>
          <p:cNvSpPr/>
          <p:nvPr/>
        </p:nvSpPr>
        <p:spPr>
          <a:xfrm>
            <a:off x="3035618" y="5765244"/>
            <a:ext cx="2807851" cy="1524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4" name="Text 7"/>
          <p:cNvSpPr/>
          <p:nvPr/>
        </p:nvSpPr>
        <p:spPr>
          <a:xfrm>
            <a:off x="3035618" y="5857637"/>
            <a:ext cx="2807851" cy="38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RASPBERRY PI SENDS COMMAND FRAME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5911215" y="5569744"/>
            <a:ext cx="248007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02</a:t>
            </a:r>
            <a:endParaRPr lang="en-US" sz="950" dirty="0"/>
          </a:p>
        </p:txBody>
      </p:sp>
      <p:sp>
        <p:nvSpPr>
          <p:cNvPr id="16" name="Shape 9"/>
          <p:cNvSpPr/>
          <p:nvPr/>
        </p:nvSpPr>
        <p:spPr>
          <a:xfrm>
            <a:off x="5911215" y="5765244"/>
            <a:ext cx="2807851" cy="1524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7" name="Text 10"/>
          <p:cNvSpPr/>
          <p:nvPr/>
        </p:nvSpPr>
        <p:spPr>
          <a:xfrm>
            <a:off x="5911215" y="5857637"/>
            <a:ext cx="2807851" cy="38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STM32 RECEIVES COMPLETE FRAME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8786813" y="5569744"/>
            <a:ext cx="248007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8786813" y="5765244"/>
            <a:ext cx="2807970" cy="1524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20" name="Text 13"/>
          <p:cNvSpPr/>
          <p:nvPr/>
        </p:nvSpPr>
        <p:spPr>
          <a:xfrm>
            <a:off x="8786813" y="5857637"/>
            <a:ext cx="2246114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CRC16 VALIDATION CHECK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3035618" y="6405801"/>
            <a:ext cx="248007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04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3035618" y="6601301"/>
            <a:ext cx="2807851" cy="1524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23" name="Text 16"/>
          <p:cNvSpPr/>
          <p:nvPr/>
        </p:nvSpPr>
        <p:spPr>
          <a:xfrm>
            <a:off x="3035618" y="6693694"/>
            <a:ext cx="2807851" cy="38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COMMAND DISPATCHER ROUTES REQUEST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911215" y="6405801"/>
            <a:ext cx="248007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05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5911215" y="6601301"/>
            <a:ext cx="2807851" cy="1524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26" name="Text 19"/>
          <p:cNvSpPr/>
          <p:nvPr/>
        </p:nvSpPr>
        <p:spPr>
          <a:xfrm>
            <a:off x="5911215" y="6693694"/>
            <a:ext cx="2711887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PERIPHERAL EXECUTES ACTION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8786813" y="6405801"/>
            <a:ext cx="248007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06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8786813" y="6601301"/>
            <a:ext cx="2807970" cy="1524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29" name="Text 22"/>
          <p:cNvSpPr/>
          <p:nvPr/>
        </p:nvSpPr>
        <p:spPr>
          <a:xfrm>
            <a:off x="8786813" y="6693694"/>
            <a:ext cx="2532817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RESPONSE FRAME GENERATED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035618" y="7241858"/>
            <a:ext cx="248007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07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3035618" y="7437358"/>
            <a:ext cx="8559165" cy="1524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32" name="Text 25"/>
          <p:cNvSpPr/>
          <p:nvPr/>
        </p:nvSpPr>
        <p:spPr>
          <a:xfrm>
            <a:off x="3035618" y="7529751"/>
            <a:ext cx="2905601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RASPBERRY VALIDATES RESPONSE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660916"/>
            <a:ext cx="6678454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SUPPORTED COMMANDS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06993" y="1651992"/>
            <a:ext cx="13216414" cy="5916692"/>
          </a:xfrm>
          <a:prstGeom prst="roundRect">
            <a:avLst>
              <a:gd name="adj" fmla="val 51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4613" y="1659612"/>
            <a:ext cx="13201174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6662" y="1775103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Command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220766" y="1775103"/>
            <a:ext cx="4208859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Purpose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841105" y="1775103"/>
            <a:ext cx="487275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Action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4613" y="2196108"/>
            <a:ext cx="13201174" cy="536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6662" y="2311598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PING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220766" y="2311598"/>
            <a:ext cx="4208859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Test connection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841105" y="2311598"/>
            <a:ext cx="487275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Return PONG response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14613" y="2732603"/>
            <a:ext cx="13201174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6662" y="2848094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LED 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220766" y="2848094"/>
            <a:ext cx="4208859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Activate onboard LED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841105" y="2848094"/>
            <a:ext cx="487275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PA5 high, LCD shows "LED ON"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14613" y="3269099"/>
            <a:ext cx="13201174" cy="536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16662" y="3384590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LED OFF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220766" y="3384590"/>
            <a:ext cx="4208859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Deactivate LED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841105" y="3384590"/>
            <a:ext cx="487275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PA5 low, LCD shows "LED OFF"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14613" y="3805595"/>
            <a:ext cx="13201174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16662" y="3921085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STATUS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220766" y="3921085"/>
            <a:ext cx="4208859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System status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841105" y="3921085"/>
            <a:ext cx="487275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Return system state and LCD message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14613" y="4342090"/>
            <a:ext cx="13201174" cy="536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16662" y="4457581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LCD CLEAR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4220766" y="4457581"/>
            <a:ext cx="4208859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Clear display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841105" y="4457581"/>
            <a:ext cx="487275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Reset LCD, show "READY"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714613" y="4878586"/>
            <a:ext cx="13201174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16662" y="4994077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LCD WRITE L1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220766" y="4994077"/>
            <a:ext cx="4208859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Line 1 text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841105" y="4994077"/>
            <a:ext cx="487275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Update first LCD line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714613" y="5415082"/>
            <a:ext cx="13201174" cy="536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16662" y="5530572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LCD WRITE L2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4220766" y="5530572"/>
            <a:ext cx="4208859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Line 2 text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841105" y="5530572"/>
            <a:ext cx="487275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Update second LCD line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714613" y="5951577"/>
            <a:ext cx="13201174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16662" y="6067068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STEPPER CW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4220766" y="6067068"/>
            <a:ext cx="4208859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Rotate clockwise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8841105" y="6067068"/>
            <a:ext cx="487275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Motor CW, LCD shows "MOTOR CW"</a:t>
            </a:r>
            <a:endParaRPr lang="en-US" sz="1550" dirty="0"/>
          </a:p>
        </p:txBody>
      </p:sp>
      <p:sp>
        <p:nvSpPr>
          <p:cNvPr id="40" name="Shape 38"/>
          <p:cNvSpPr/>
          <p:nvPr/>
        </p:nvSpPr>
        <p:spPr>
          <a:xfrm>
            <a:off x="714613" y="6488073"/>
            <a:ext cx="13201174" cy="536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16662" y="6603563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STEPPER CCW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4220766" y="6603563"/>
            <a:ext cx="4208859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Rotate counterclockwise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8841105" y="6603563"/>
            <a:ext cx="487275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Motor CCW, LCD shows "MOTOR CCW"</a:t>
            </a:r>
            <a:endParaRPr lang="en-US" sz="1550" dirty="0"/>
          </a:p>
        </p:txBody>
      </p:sp>
      <p:sp>
        <p:nvSpPr>
          <p:cNvPr id="44" name="Shape 42"/>
          <p:cNvSpPr/>
          <p:nvPr/>
        </p:nvSpPr>
        <p:spPr>
          <a:xfrm>
            <a:off x="714613" y="7024568"/>
            <a:ext cx="13201174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916662" y="7140059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STEPPER HOME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4220766" y="7140059"/>
            <a:ext cx="4208859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Return to origin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8841105" y="7140059"/>
            <a:ext cx="487275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Software return, LCD shows "MOTOR HOME"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1743"/>
            <a:ext cx="82065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LCD FEEDBACK INTERFACE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24150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981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READY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471863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System initialization complete, awaiting commands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724150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2981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PONG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3471863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PING command response received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724150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7427" y="2981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LED ON / OFF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3471863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Onboard LED state change confirmation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681776"/>
            <a:ext cx="6407944" cy="1367909"/>
          </a:xfrm>
          <a:prstGeom prst="roundRect">
            <a:avLst>
              <a:gd name="adj" fmla="val 2487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084" y="49390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MOTOR CW / CCW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084" y="5429488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Stepper motor rotation direction active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681776"/>
            <a:ext cx="6407944" cy="1367909"/>
          </a:xfrm>
          <a:prstGeom prst="roundRect">
            <a:avLst>
              <a:gd name="adj" fmla="val 2487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5842" y="49390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MOTOR HOME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85842" y="5429488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Software home position return initiated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630483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LCD1602 provides operator feedback in machine-style format, displaying current state and command execution results.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64833"/>
            <a:ext cx="7986593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STEPPER MOTOR INTEGRATION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34628" y="1540550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HARDWARE SETUP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4628" y="1989534"/>
            <a:ext cx="6251377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ULN2003 stepper driver interfaces the STM32 GPIO pins to the 28BYJ-48 5V stepper motor. Four output pins control motor coils in sequence for precise rotation.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551777" y="1540550"/>
            <a:ext cx="2684740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SOFTWARE CONTROL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551777" y="1989534"/>
            <a:ext cx="6251377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CW and CCW commands rotate motor in respective directions. HOME command implements software return to origin position. Future improvement: hardware end-stop switch for accurate homing.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710928" y="5249704"/>
            <a:ext cx="2960370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CLOCKWISE ROTATION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6940" y="3128367"/>
            <a:ext cx="4536281" cy="4536281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0463" y="4983004"/>
            <a:ext cx="280988" cy="2809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64923" y="3971806"/>
            <a:ext cx="3930729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COUNTERCLOCKWISE ROTATION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940" y="3128367"/>
            <a:ext cx="4536281" cy="4536281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2929" y="4037886"/>
            <a:ext cx="280988" cy="2809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864923" y="6527602"/>
            <a:ext cx="3216473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HOME POSITION RETURN</a:t>
            </a:r>
            <a:endParaRPr lang="en-US" sz="1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6940" y="3128367"/>
            <a:ext cx="4536281" cy="4536281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20132" y="6746915"/>
            <a:ext cx="280988" cy="2809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2026-04-22T07:26:04Z</dcterms:created>
  <dcterms:modified xsi:type="dcterms:W3CDTF">2026-04-22T07:26:04Z</dcterms:modified>
</cp:coreProperties>
</file>